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  <p:embeddedFont>
      <p:font typeface="Mandali" charset="1" panose="02000600000000000000"/>
      <p:regular r:id="rId24"/>
    </p:embeddedFont>
    <p:embeddedFont>
      <p:font typeface="Canva Sans" charset="1" panose="020B0503030501040103"/>
      <p:regular r:id="rId25"/>
    </p:embeddedFont>
    <p:embeddedFont>
      <p:font typeface="Canva Sans Bold" charset="1" panose="020B08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25.png" Type="http://schemas.openxmlformats.org/officeDocument/2006/relationships/image"/><Relationship Id="rId20" Target="../media/image43.png" Type="http://schemas.openxmlformats.org/officeDocument/2006/relationships/image"/><Relationship Id="rId21" Target="../media/image44.png" Type="http://schemas.openxmlformats.org/officeDocument/2006/relationships/image"/><Relationship Id="rId22" Target="../media/image45.png" Type="http://schemas.openxmlformats.org/officeDocument/2006/relationships/image"/><Relationship Id="rId23" Target="../media/image46.png" Type="http://schemas.openxmlformats.org/officeDocument/2006/relationships/image"/><Relationship Id="rId24" Target="../media/image47.png" Type="http://schemas.openxmlformats.org/officeDocument/2006/relationships/image"/><Relationship Id="rId25" Target="../media/image48.png" Type="http://schemas.openxmlformats.org/officeDocument/2006/relationships/image"/><Relationship Id="rId26" Target="../media/image49.png" Type="http://schemas.openxmlformats.org/officeDocument/2006/relationships/image"/><Relationship Id="rId27" Target="../media/image50.png" Type="http://schemas.openxmlformats.org/officeDocument/2006/relationships/image"/><Relationship Id="rId28" Target="../media/image51.png" Type="http://schemas.openxmlformats.org/officeDocument/2006/relationships/image"/><Relationship Id="rId29" Target="../media/image52.png" Type="http://schemas.openxmlformats.org/officeDocument/2006/relationships/image"/><Relationship Id="rId3" Target="../media/image26.png" Type="http://schemas.openxmlformats.org/officeDocument/2006/relationships/image"/><Relationship Id="rId30" Target="../media/image53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6.png" Type="http://schemas.openxmlformats.org/officeDocument/2006/relationships/image"/><Relationship Id="rId6" Target="../media/image53.png" Type="http://schemas.openxmlformats.org/officeDocument/2006/relationships/image"/><Relationship Id="rId7" Target="../media/image5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6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32289" y="2455393"/>
            <a:ext cx="6179410" cy="6525520"/>
          </a:xfrm>
          <a:custGeom>
            <a:avLst/>
            <a:gdLst/>
            <a:ahLst/>
            <a:cxnLst/>
            <a:rect r="r" b="b" t="t" l="l"/>
            <a:pathLst>
              <a:path h="6525520" w="6179410">
                <a:moveTo>
                  <a:pt x="0" y="0"/>
                </a:moveTo>
                <a:lnTo>
                  <a:pt x="6179410" y="0"/>
                </a:lnTo>
                <a:lnTo>
                  <a:pt x="6179410" y="6525520"/>
                </a:lnTo>
                <a:lnTo>
                  <a:pt x="0" y="6525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" r="0" b="-4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6708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5" y="0"/>
                </a:lnTo>
                <a:lnTo>
                  <a:pt x="2537975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263242" y="7099278"/>
            <a:ext cx="5612706" cy="6088721"/>
          </a:xfrm>
          <a:custGeom>
            <a:avLst/>
            <a:gdLst/>
            <a:ahLst/>
            <a:cxnLst/>
            <a:rect r="r" b="b" t="t" l="l"/>
            <a:pathLst>
              <a:path h="6088721" w="5612706">
                <a:moveTo>
                  <a:pt x="5612707" y="6088721"/>
                </a:moveTo>
                <a:lnTo>
                  <a:pt x="0" y="6088721"/>
                </a:lnTo>
                <a:lnTo>
                  <a:pt x="0" y="0"/>
                </a:lnTo>
                <a:lnTo>
                  <a:pt x="5612707" y="0"/>
                </a:lnTo>
                <a:lnTo>
                  <a:pt x="5612707" y="60887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441414" y="600237"/>
            <a:ext cx="3218917" cy="3218917"/>
          </a:xfrm>
          <a:custGeom>
            <a:avLst/>
            <a:gdLst/>
            <a:ahLst/>
            <a:cxnLst/>
            <a:rect r="r" b="b" t="t" l="l"/>
            <a:pathLst>
              <a:path h="3218917" w="3218917">
                <a:moveTo>
                  <a:pt x="3218917" y="3218917"/>
                </a:moveTo>
                <a:lnTo>
                  <a:pt x="0" y="3218917"/>
                </a:lnTo>
                <a:lnTo>
                  <a:pt x="0" y="0"/>
                </a:lnTo>
                <a:lnTo>
                  <a:pt x="3218917" y="0"/>
                </a:lnTo>
                <a:lnTo>
                  <a:pt x="3218917" y="321891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4692" y="7889729"/>
            <a:ext cx="6374454" cy="938784"/>
          </a:xfrm>
          <a:custGeom>
            <a:avLst/>
            <a:gdLst/>
            <a:ahLst/>
            <a:cxnLst/>
            <a:rect r="r" b="b" t="t" l="l"/>
            <a:pathLst>
              <a:path h="938784" w="6374454">
                <a:moveTo>
                  <a:pt x="0" y="0"/>
                </a:moveTo>
                <a:lnTo>
                  <a:pt x="6374454" y="0"/>
                </a:lnTo>
                <a:lnTo>
                  <a:pt x="6374454" y="938784"/>
                </a:lnTo>
                <a:lnTo>
                  <a:pt x="0" y="9387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178" r="0" b="-117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6266" y="4782082"/>
            <a:ext cx="9588906" cy="361418"/>
          </a:xfrm>
          <a:custGeom>
            <a:avLst/>
            <a:gdLst/>
            <a:ahLst/>
            <a:cxnLst/>
            <a:rect r="r" b="b" t="t" l="l"/>
            <a:pathLst>
              <a:path h="361418" w="9588906">
                <a:moveTo>
                  <a:pt x="0" y="0"/>
                </a:moveTo>
                <a:lnTo>
                  <a:pt x="9588906" y="0"/>
                </a:lnTo>
                <a:lnTo>
                  <a:pt x="9588906" y="361418"/>
                </a:lnTo>
                <a:lnTo>
                  <a:pt x="0" y="3614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1241" r="0" b="-4164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6266" y="3648189"/>
            <a:ext cx="794635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story of 비전4조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0946" y="2938167"/>
            <a:ext cx="46370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9A2F"/>
                </a:solidFill>
                <a:latin typeface="Calibri (MS)"/>
                <a:ea typeface="Calibri (MS)"/>
                <a:cs typeface="Calibri (MS)"/>
                <a:sym typeface="Calibri (MS)"/>
              </a:rPr>
              <a:t>비전과 함께 하는 디지털 트윈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51281"/>
          </a:xfrm>
          <a:custGeom>
            <a:avLst/>
            <a:gdLst/>
            <a:ahLst/>
            <a:cxnLst/>
            <a:rect r="r" b="b" t="t" l="l"/>
            <a:pathLst>
              <a:path h="10251281" w="18288000">
                <a:moveTo>
                  <a:pt x="0" y="0"/>
                </a:moveTo>
                <a:lnTo>
                  <a:pt x="18288000" y="0"/>
                </a:lnTo>
                <a:lnTo>
                  <a:pt x="18288000" y="10251281"/>
                </a:lnTo>
                <a:lnTo>
                  <a:pt x="0" y="1025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1714500"/>
            <a:ext cx="7524506" cy="6858000"/>
            <a:chOff x="0" y="0"/>
            <a:chExt cx="10032675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3267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032675">
                  <a:moveTo>
                    <a:pt x="393552" y="0"/>
                  </a:moveTo>
                  <a:lnTo>
                    <a:pt x="9639123" y="0"/>
                  </a:lnTo>
                  <a:cubicBezTo>
                    <a:pt x="9856476" y="0"/>
                    <a:pt x="10032675" y="176199"/>
                    <a:pt x="10032675" y="393552"/>
                  </a:cubicBezTo>
                  <a:lnTo>
                    <a:pt x="10032675" y="8750448"/>
                  </a:lnTo>
                  <a:cubicBezTo>
                    <a:pt x="10032675" y="8967801"/>
                    <a:pt x="9856476" y="9144000"/>
                    <a:pt x="9639123" y="9144000"/>
                  </a:cubicBezTo>
                  <a:lnTo>
                    <a:pt x="393552" y="9144000"/>
                  </a:lnTo>
                  <a:cubicBezTo>
                    <a:pt x="176199" y="9144000"/>
                    <a:pt x="0" y="8967801"/>
                    <a:pt x="0" y="8750448"/>
                  </a:cubicBezTo>
                  <a:lnTo>
                    <a:pt x="0" y="393552"/>
                  </a:lnTo>
                  <a:cubicBezTo>
                    <a:pt x="0" y="176199"/>
                    <a:pt x="176199" y="0"/>
                    <a:pt x="393552" y="0"/>
                  </a:cubicBezTo>
                  <a:close/>
                </a:path>
              </a:pathLst>
            </a:custGeom>
            <a:ln w="28575" cap="rnd">
              <a:solidFill>
                <a:srgbClr val="7EB8F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032675" cy="918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" y="1714500"/>
            <a:ext cx="7524506" cy="6858000"/>
          </a:xfrm>
          <a:custGeom>
            <a:avLst/>
            <a:gdLst/>
            <a:ahLst/>
            <a:cxnLst/>
            <a:rect r="r" b="b" t="t" l="l"/>
            <a:pathLst>
              <a:path h="6858000" w="7524506">
                <a:moveTo>
                  <a:pt x="0" y="0"/>
                </a:moveTo>
                <a:lnTo>
                  <a:pt x="7524506" y="0"/>
                </a:lnTo>
                <a:lnTo>
                  <a:pt x="752450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2" t="0" r="-1078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9554" y="1447800"/>
            <a:ext cx="8109746" cy="7391400"/>
            <a:chOff x="0" y="0"/>
            <a:chExt cx="10812994" cy="985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2994" cy="9855200"/>
            </a:xfrm>
            <a:custGeom>
              <a:avLst/>
              <a:gdLst/>
              <a:ahLst/>
              <a:cxnLst/>
              <a:rect r="r" b="b" t="t" l="l"/>
              <a:pathLst>
                <a:path h="9855200" w="10812994">
                  <a:moveTo>
                    <a:pt x="352980" y="0"/>
                  </a:moveTo>
                  <a:lnTo>
                    <a:pt x="10460015" y="0"/>
                  </a:lnTo>
                  <a:cubicBezTo>
                    <a:pt x="10553631" y="0"/>
                    <a:pt x="10643412" y="37189"/>
                    <a:pt x="10709609" y="103385"/>
                  </a:cubicBezTo>
                  <a:cubicBezTo>
                    <a:pt x="10775806" y="169582"/>
                    <a:pt x="10812994" y="259364"/>
                    <a:pt x="10812994" y="352980"/>
                  </a:cubicBezTo>
                  <a:lnTo>
                    <a:pt x="10812994" y="9502221"/>
                  </a:lnTo>
                  <a:cubicBezTo>
                    <a:pt x="10812994" y="9697165"/>
                    <a:pt x="10654960" y="9855200"/>
                    <a:pt x="10460015" y="9855200"/>
                  </a:cubicBezTo>
                  <a:lnTo>
                    <a:pt x="352980" y="9855200"/>
                  </a:lnTo>
                  <a:cubicBezTo>
                    <a:pt x="158034" y="9855200"/>
                    <a:pt x="0" y="9697165"/>
                    <a:pt x="0" y="9502221"/>
                  </a:cubicBezTo>
                  <a:lnTo>
                    <a:pt x="0" y="352980"/>
                  </a:lnTo>
                  <a:cubicBezTo>
                    <a:pt x="0" y="158034"/>
                    <a:pt x="158034" y="0"/>
                    <a:pt x="352980" y="0"/>
                  </a:cubicBezTo>
                  <a:close/>
                </a:path>
              </a:pathLst>
            </a:custGeom>
            <a:solidFill>
              <a:srgbClr val="14283A"/>
            </a:solidFill>
            <a:ln w="28575" cap="rnd">
              <a:solidFill>
                <a:srgbClr val="D7CFF5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812994" cy="9893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42174" y="1714500"/>
            <a:ext cx="7524506" cy="6858000"/>
            <a:chOff x="0" y="0"/>
            <a:chExt cx="10032675" cy="914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3267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032675">
                  <a:moveTo>
                    <a:pt x="393552" y="0"/>
                  </a:moveTo>
                  <a:lnTo>
                    <a:pt x="9639123" y="0"/>
                  </a:lnTo>
                  <a:cubicBezTo>
                    <a:pt x="9856476" y="0"/>
                    <a:pt x="10032675" y="176199"/>
                    <a:pt x="10032675" y="393552"/>
                  </a:cubicBezTo>
                  <a:lnTo>
                    <a:pt x="10032675" y="8750448"/>
                  </a:lnTo>
                  <a:cubicBezTo>
                    <a:pt x="10032675" y="8967801"/>
                    <a:pt x="9856476" y="9144000"/>
                    <a:pt x="9639123" y="9144000"/>
                  </a:cubicBezTo>
                  <a:lnTo>
                    <a:pt x="393552" y="9144000"/>
                  </a:lnTo>
                  <a:cubicBezTo>
                    <a:pt x="176199" y="9144000"/>
                    <a:pt x="0" y="8967801"/>
                    <a:pt x="0" y="8750448"/>
                  </a:cubicBezTo>
                  <a:lnTo>
                    <a:pt x="0" y="393552"/>
                  </a:lnTo>
                  <a:cubicBezTo>
                    <a:pt x="0" y="176199"/>
                    <a:pt x="176199" y="0"/>
                    <a:pt x="393552" y="0"/>
                  </a:cubicBezTo>
                  <a:close/>
                </a:path>
              </a:pathLst>
            </a:custGeom>
            <a:ln w="28575" cap="rnd">
              <a:solidFill>
                <a:srgbClr val="7EB8F8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032675" cy="918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442174" y="1714500"/>
            <a:ext cx="7524506" cy="6858000"/>
          </a:xfrm>
          <a:custGeom>
            <a:avLst/>
            <a:gdLst/>
            <a:ahLst/>
            <a:cxnLst/>
            <a:rect r="r" b="b" t="t" l="l"/>
            <a:pathLst>
              <a:path h="6858000" w="7524506">
                <a:moveTo>
                  <a:pt x="0" y="0"/>
                </a:moveTo>
                <a:lnTo>
                  <a:pt x="7524506" y="0"/>
                </a:lnTo>
                <a:lnTo>
                  <a:pt x="752450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549" r="0" b="-1854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857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708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5" y="0"/>
                </a:lnTo>
                <a:lnTo>
                  <a:pt x="2537975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53583" y="2238804"/>
            <a:ext cx="7736472" cy="5809383"/>
          </a:xfrm>
          <a:custGeom>
            <a:avLst/>
            <a:gdLst/>
            <a:ahLst/>
            <a:cxnLst/>
            <a:rect r="r" b="b" t="t" l="l"/>
            <a:pathLst>
              <a:path h="5809383" w="7736472">
                <a:moveTo>
                  <a:pt x="0" y="0"/>
                </a:moveTo>
                <a:lnTo>
                  <a:pt x="7736472" y="0"/>
                </a:lnTo>
                <a:lnTo>
                  <a:pt x="7736472" y="5809383"/>
                </a:lnTo>
                <a:lnTo>
                  <a:pt x="0" y="58093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1" t="0" r="-101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337974" y="7099278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2537975" y="2753220"/>
                </a:moveTo>
                <a:lnTo>
                  <a:pt x="0" y="2753220"/>
                </a:lnTo>
                <a:lnTo>
                  <a:pt x="0" y="0"/>
                </a:lnTo>
                <a:lnTo>
                  <a:pt x="2537975" y="0"/>
                </a:lnTo>
                <a:lnTo>
                  <a:pt x="2537975" y="27532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441414" y="600237"/>
            <a:ext cx="3218917" cy="3218917"/>
          </a:xfrm>
          <a:custGeom>
            <a:avLst/>
            <a:gdLst/>
            <a:ahLst/>
            <a:cxnLst/>
            <a:rect r="r" b="b" t="t" l="l"/>
            <a:pathLst>
              <a:path h="3218917" w="3218917">
                <a:moveTo>
                  <a:pt x="3218917" y="3218917"/>
                </a:moveTo>
                <a:lnTo>
                  <a:pt x="0" y="3218917"/>
                </a:lnTo>
                <a:lnTo>
                  <a:pt x="0" y="0"/>
                </a:lnTo>
                <a:lnTo>
                  <a:pt x="3218917" y="0"/>
                </a:lnTo>
                <a:lnTo>
                  <a:pt x="3218917" y="321891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3701548"/>
            <a:ext cx="6758407" cy="5556752"/>
          </a:xfrm>
          <a:custGeom>
            <a:avLst/>
            <a:gdLst/>
            <a:ahLst/>
            <a:cxnLst/>
            <a:rect r="r" b="b" t="t" l="l"/>
            <a:pathLst>
              <a:path h="5556752" w="6758407">
                <a:moveTo>
                  <a:pt x="0" y="0"/>
                </a:moveTo>
                <a:lnTo>
                  <a:pt x="6758407" y="0"/>
                </a:lnTo>
                <a:lnTo>
                  <a:pt x="6758407" y="5556752"/>
                </a:lnTo>
                <a:lnTo>
                  <a:pt x="0" y="55567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9" t="0" r="-4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60478" y="3332502"/>
            <a:ext cx="61722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solidFill>
                  <a:srgbClr val="FF9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안녕하세요! 전 비전이에요!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60478" y="4181475"/>
            <a:ext cx="6590395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실제 제조 현장과 가상 공장을 연결하는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VISION 4 프로젝트를 소개해 드리겠습니다.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7844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630469" y="308661"/>
            <a:ext cx="9011610" cy="7006527"/>
          </a:xfrm>
          <a:custGeom>
            <a:avLst/>
            <a:gdLst/>
            <a:ahLst/>
            <a:cxnLst/>
            <a:rect r="r" b="b" t="t" l="l"/>
            <a:pathLst>
              <a:path h="7006527" w="9011610">
                <a:moveTo>
                  <a:pt x="0" y="0"/>
                </a:moveTo>
                <a:lnTo>
                  <a:pt x="9011610" y="0"/>
                </a:lnTo>
                <a:lnTo>
                  <a:pt x="9011610" y="7006527"/>
                </a:lnTo>
                <a:lnTo>
                  <a:pt x="0" y="7006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6708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5" y="0"/>
                </a:lnTo>
                <a:lnTo>
                  <a:pt x="2537975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7528" y="1597924"/>
            <a:ext cx="7736472" cy="5809383"/>
          </a:xfrm>
          <a:custGeom>
            <a:avLst/>
            <a:gdLst/>
            <a:ahLst/>
            <a:cxnLst/>
            <a:rect r="r" b="b" t="t" l="l"/>
            <a:pathLst>
              <a:path h="5809383" w="7736472">
                <a:moveTo>
                  <a:pt x="0" y="0"/>
                </a:moveTo>
                <a:lnTo>
                  <a:pt x="7736472" y="0"/>
                </a:lnTo>
                <a:lnTo>
                  <a:pt x="7736472" y="5809384"/>
                </a:lnTo>
                <a:lnTo>
                  <a:pt x="0" y="5809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1" t="0" r="-10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15640" y="5702656"/>
            <a:ext cx="3890943" cy="4346696"/>
          </a:xfrm>
          <a:custGeom>
            <a:avLst/>
            <a:gdLst/>
            <a:ahLst/>
            <a:cxnLst/>
            <a:rect r="r" b="b" t="t" l="l"/>
            <a:pathLst>
              <a:path h="4346696" w="3890943">
                <a:moveTo>
                  <a:pt x="0" y="0"/>
                </a:moveTo>
                <a:lnTo>
                  <a:pt x="3890943" y="0"/>
                </a:lnTo>
                <a:lnTo>
                  <a:pt x="3890943" y="4346695"/>
                </a:lnTo>
                <a:lnTo>
                  <a:pt x="0" y="43466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" r="0" b="-1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337974" y="6915121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2537975" y="2753221"/>
                </a:moveTo>
                <a:lnTo>
                  <a:pt x="0" y="2753221"/>
                </a:lnTo>
                <a:lnTo>
                  <a:pt x="0" y="0"/>
                </a:lnTo>
                <a:lnTo>
                  <a:pt x="2537975" y="0"/>
                </a:lnTo>
                <a:lnTo>
                  <a:pt x="2537975" y="2753221"/>
                </a:lnTo>
                <a:close/>
              </a:path>
            </a:pathLst>
          </a:custGeom>
          <a:blipFill>
            <a:blip r:embed="rId4">
              <a:alphaModFix amt="7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98224" y="2238037"/>
            <a:ext cx="630936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11">
                <a:solidFill>
                  <a:srgbClr val="7EB8F8"/>
                </a:solidFill>
                <a:latin typeface="Mandali"/>
                <a:ea typeface="Mandali"/>
                <a:cs typeface="Mandali"/>
                <a:sym typeface="Mandali"/>
              </a:rPr>
              <a:t>01  비전4조 목표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1084" y="2886732"/>
            <a:ext cx="62636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b="true" sz="2800">
                <a:solidFill>
                  <a:srgbClr val="FF9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VISION 4는 어떻게 시작됐을까요?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21084" y="3477282"/>
            <a:ext cx="6690958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실제 센서와 장비의 제약을 보완하기 위해 Unity로 가상 공장을 구현했어요.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가상 공장에서는 설비를 실시간으로 모니터링하고 관리할 수 있어요.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실제 설비까지 모니터링하고 제어할 수 있는 플랫폼을 구축했습니다.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708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5" y="0"/>
                </a:lnTo>
                <a:lnTo>
                  <a:pt x="2537975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40919"/>
            <a:ext cx="7736472" cy="5809383"/>
          </a:xfrm>
          <a:custGeom>
            <a:avLst/>
            <a:gdLst/>
            <a:ahLst/>
            <a:cxnLst/>
            <a:rect r="r" b="b" t="t" l="l"/>
            <a:pathLst>
              <a:path h="5809383" w="7736472">
                <a:moveTo>
                  <a:pt x="0" y="0"/>
                </a:moveTo>
                <a:lnTo>
                  <a:pt x="7736472" y="0"/>
                </a:lnTo>
                <a:lnTo>
                  <a:pt x="7736472" y="5809383"/>
                </a:lnTo>
                <a:lnTo>
                  <a:pt x="0" y="58093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1" t="0" r="-10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37126" y="1125720"/>
            <a:ext cx="10745660" cy="7166012"/>
          </a:xfrm>
          <a:custGeom>
            <a:avLst/>
            <a:gdLst/>
            <a:ahLst/>
            <a:cxnLst/>
            <a:rect r="r" b="b" t="t" l="l"/>
            <a:pathLst>
              <a:path h="7166012" w="10745660">
                <a:moveTo>
                  <a:pt x="0" y="0"/>
                </a:moveTo>
                <a:lnTo>
                  <a:pt x="10745660" y="0"/>
                </a:lnTo>
                <a:lnTo>
                  <a:pt x="10745660" y="7166012"/>
                </a:lnTo>
                <a:lnTo>
                  <a:pt x="0" y="71660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337974" y="6915121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2537975" y="2753221"/>
                </a:moveTo>
                <a:lnTo>
                  <a:pt x="0" y="2753221"/>
                </a:lnTo>
                <a:lnTo>
                  <a:pt x="0" y="0"/>
                </a:lnTo>
                <a:lnTo>
                  <a:pt x="2537975" y="0"/>
                </a:lnTo>
                <a:lnTo>
                  <a:pt x="2537975" y="2753221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459548" y="7329511"/>
            <a:ext cx="2557967" cy="2449249"/>
            <a:chOff x="0" y="0"/>
            <a:chExt cx="3410623" cy="32656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0585" cy="3265678"/>
            </a:xfrm>
            <a:custGeom>
              <a:avLst/>
              <a:gdLst/>
              <a:ahLst/>
              <a:cxnLst/>
              <a:rect r="r" b="b" t="t" l="l"/>
              <a:pathLst>
                <a:path h="3265678" w="3410585">
                  <a:moveTo>
                    <a:pt x="0" y="0"/>
                  </a:moveTo>
                  <a:lnTo>
                    <a:pt x="3410585" y="0"/>
                  </a:lnTo>
                  <a:lnTo>
                    <a:pt x="3410585" y="3265678"/>
                  </a:lnTo>
                  <a:lnTo>
                    <a:pt x="0" y="3265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80000"/>
              </a:blip>
              <a:stretch>
                <a:fillRect l="-36" t="0" r="-37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86708" y="5322432"/>
            <a:ext cx="3937302" cy="4456328"/>
          </a:xfrm>
          <a:custGeom>
            <a:avLst/>
            <a:gdLst/>
            <a:ahLst/>
            <a:cxnLst/>
            <a:rect r="r" b="b" t="t" l="l"/>
            <a:pathLst>
              <a:path h="4456328" w="3937302">
                <a:moveTo>
                  <a:pt x="0" y="0"/>
                </a:moveTo>
                <a:lnTo>
                  <a:pt x="3937302" y="0"/>
                </a:lnTo>
                <a:lnTo>
                  <a:pt x="3937302" y="4456328"/>
                </a:lnTo>
                <a:lnTo>
                  <a:pt x="0" y="44563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8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61" t="0" r="-6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55696" y="1270856"/>
            <a:ext cx="576072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spc="8">
                <a:solidFill>
                  <a:srgbClr val="7EB8F8"/>
                </a:solidFill>
                <a:latin typeface="Mandali"/>
                <a:ea typeface="Mandali"/>
                <a:cs typeface="Mandali"/>
                <a:sym typeface="Mandali"/>
              </a:rPr>
              <a:t>02. 저희 공장의 아키텍처를 </a:t>
            </a:r>
          </a:p>
          <a:p>
            <a:pPr algn="l">
              <a:lnSpc>
                <a:spcPts val="3479"/>
              </a:lnSpc>
            </a:pPr>
            <a:r>
              <a:rPr lang="en-US" sz="2899" spc="8">
                <a:solidFill>
                  <a:srgbClr val="7EB8F8"/>
                </a:solidFill>
                <a:latin typeface="Mandali"/>
                <a:ea typeface="Mandali"/>
                <a:cs typeface="Mandali"/>
                <a:sym typeface="Mandali"/>
              </a:rPr>
              <a:t>소개할게요!</a:t>
            </a:r>
          </a:p>
          <a:p>
            <a:pPr algn="l">
              <a:lnSpc>
                <a:spcPts val="34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95375" y="2527803"/>
            <a:ext cx="4954171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전체 시스템은 MQTT, Unity, C# 소켓 서버를 중심으로 구성되어 있어요.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이 세 가지 기술이 서로 연결되어 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간 데이터 통신을 담당합니다.</a:t>
            </a:r>
          </a:p>
          <a:p>
            <a:pPr algn="l">
              <a:lnSpc>
                <a:spcPts val="31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8625" y="428625"/>
            <a:ext cx="2619375" cy="3000375"/>
          </a:xfrm>
          <a:custGeom>
            <a:avLst/>
            <a:gdLst/>
            <a:ahLst/>
            <a:cxnLst/>
            <a:rect r="r" b="b" t="t" l="l"/>
            <a:pathLst>
              <a:path h="3000375" w="2619375">
                <a:moveTo>
                  <a:pt x="0" y="0"/>
                </a:moveTo>
                <a:lnTo>
                  <a:pt x="2619375" y="0"/>
                </a:lnTo>
                <a:lnTo>
                  <a:pt x="26193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95536" y="500182"/>
            <a:ext cx="483933" cy="4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>
                <a:solidFill>
                  <a:srgbClr val="78A9E8"/>
                </a:solidFill>
                <a:latin typeface="Canva Sans"/>
                <a:ea typeface="Canva Sans"/>
                <a:cs typeface="Canva Sans"/>
                <a:sym typeface="Canva Sans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10737" y="500182"/>
            <a:ext cx="4595113" cy="4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true">
                <a:solidFill>
                  <a:srgbClr val="78A9E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품질 검사: 이동 너트 version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04425" y="1383246"/>
            <a:ext cx="11359879" cy="45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59" b="true">
                <a:solidFill>
                  <a:srgbClr val="F097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영상 입력 → 너트 검출 → ROI 추출 → 이상 분석 → OK / NG 판정 → 결과 전송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7147" y="3302741"/>
            <a:ext cx="5441507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AI와 영상처리 기술로 불량을 검사해요!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390775" y="4067175"/>
            <a:ext cx="5229225" cy="5153025"/>
          </a:xfrm>
          <a:custGeom>
            <a:avLst/>
            <a:gdLst/>
            <a:ahLst/>
            <a:cxnLst/>
            <a:rect r="r" b="b" t="t" l="l"/>
            <a:pathLst>
              <a:path h="5153025" w="5229225">
                <a:moveTo>
                  <a:pt x="0" y="0"/>
                </a:moveTo>
                <a:lnTo>
                  <a:pt x="5229225" y="0"/>
                </a:lnTo>
                <a:lnTo>
                  <a:pt x="522922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8625" y="5353050"/>
            <a:ext cx="3057525" cy="3438525"/>
          </a:xfrm>
          <a:custGeom>
            <a:avLst/>
            <a:gdLst/>
            <a:ahLst/>
            <a:cxnLst/>
            <a:rect r="r" b="b" t="t" l="l"/>
            <a:pathLst>
              <a:path h="3438525" w="3057525">
                <a:moveTo>
                  <a:pt x="0" y="0"/>
                </a:moveTo>
                <a:lnTo>
                  <a:pt x="3057525" y="0"/>
                </a:lnTo>
                <a:lnTo>
                  <a:pt x="30575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29550" y="2143125"/>
            <a:ext cx="9153525" cy="7077075"/>
          </a:xfrm>
          <a:custGeom>
            <a:avLst/>
            <a:gdLst/>
            <a:ahLst/>
            <a:cxnLst/>
            <a:rect r="r" b="b" t="t" l="l"/>
            <a:pathLst>
              <a:path h="7077075" w="9153525">
                <a:moveTo>
                  <a:pt x="0" y="0"/>
                </a:moveTo>
                <a:lnTo>
                  <a:pt x="9153525" y="0"/>
                </a:lnTo>
                <a:lnTo>
                  <a:pt x="9153525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86775" y="2781300"/>
            <a:ext cx="7848600" cy="1295400"/>
          </a:xfrm>
          <a:custGeom>
            <a:avLst/>
            <a:gdLst/>
            <a:ahLst/>
            <a:cxnLst/>
            <a:rect r="r" b="b" t="t" l="l"/>
            <a:pathLst>
              <a:path h="1295400" w="7848600">
                <a:moveTo>
                  <a:pt x="0" y="0"/>
                </a:moveTo>
                <a:lnTo>
                  <a:pt x="7848600" y="0"/>
                </a:lnTo>
                <a:lnTo>
                  <a:pt x="784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05850" y="320992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229642" y="3246622"/>
            <a:ext cx="1258463" cy="32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정상 이미지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668000" y="320992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15700" y="32099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908966" y="3246622"/>
            <a:ext cx="1216682" cy="32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ResNet18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496925" y="320992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925550" y="320992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367571" y="3246622"/>
            <a:ext cx="1815511" cy="32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Patch 특징 추출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486775" y="4286250"/>
            <a:ext cx="7848600" cy="1076325"/>
          </a:xfrm>
          <a:custGeom>
            <a:avLst/>
            <a:gdLst/>
            <a:ahLst/>
            <a:cxnLst/>
            <a:rect r="r" b="b" t="t" l="l"/>
            <a:pathLst>
              <a:path h="1076325" w="7848600">
                <a:moveTo>
                  <a:pt x="0" y="0"/>
                </a:moveTo>
                <a:lnTo>
                  <a:pt x="7848600" y="0"/>
                </a:lnTo>
                <a:lnTo>
                  <a:pt x="784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668000" y="4495800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250664" y="4497480"/>
            <a:ext cx="2753151" cy="38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40D9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Memory Bank 저장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52201" y="4908160"/>
            <a:ext cx="2599469" cy="27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정상 너트의 대표 특징 벡터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192000" y="5353050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486775" y="5572125"/>
            <a:ext cx="7848600" cy="1714500"/>
          </a:xfrm>
          <a:custGeom>
            <a:avLst/>
            <a:gdLst/>
            <a:ahLst/>
            <a:cxnLst/>
            <a:rect r="r" b="b" t="t" l="l"/>
            <a:pathLst>
              <a:path h="1714500" w="7848600">
                <a:moveTo>
                  <a:pt x="0" y="0"/>
                </a:moveTo>
                <a:lnTo>
                  <a:pt x="7848600" y="0"/>
                </a:lnTo>
                <a:lnTo>
                  <a:pt x="7848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91700" y="57816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323725" y="5838320"/>
            <a:ext cx="4364205" cy="389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1"/>
              </a:lnSpc>
            </a:pPr>
            <a:r>
              <a:rPr lang="en-US" sz="235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Jetson Nano — 실시간 불량검사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363700" y="57816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924925" y="64293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668000" y="6429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315700" y="64293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962544" y="6486424"/>
            <a:ext cx="1216682" cy="32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ResNet18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496925" y="642937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925550" y="64293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010775" y="70675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8486775" y="7496175"/>
            <a:ext cx="3924300" cy="1076325"/>
          </a:xfrm>
          <a:custGeom>
            <a:avLst/>
            <a:gdLst/>
            <a:ahLst/>
            <a:cxnLst/>
            <a:rect r="r" b="b" t="t" l="l"/>
            <a:pathLst>
              <a:path h="1076325" w="3924300">
                <a:moveTo>
                  <a:pt x="0" y="0"/>
                </a:moveTo>
                <a:lnTo>
                  <a:pt x="3924300" y="0"/>
                </a:lnTo>
                <a:lnTo>
                  <a:pt x="3924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353550" y="771525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144625" y="70675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401550" y="7496175"/>
            <a:ext cx="3933825" cy="1076325"/>
          </a:xfrm>
          <a:custGeom>
            <a:avLst/>
            <a:gdLst/>
            <a:ahLst/>
            <a:cxnLst/>
            <a:rect r="r" b="b" t="t" l="l"/>
            <a:pathLst>
              <a:path h="1076325" w="3933825">
                <a:moveTo>
                  <a:pt x="0" y="0"/>
                </a:moveTo>
                <a:lnTo>
                  <a:pt x="3933825" y="0"/>
                </a:lnTo>
                <a:lnTo>
                  <a:pt x="3933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277850" y="77152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943629" y="7677006"/>
            <a:ext cx="1347240" cy="38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06D5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불량 (NG)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5449550" y="6858000"/>
            <a:ext cx="2628900" cy="2790825"/>
          </a:xfrm>
          <a:custGeom>
            <a:avLst/>
            <a:gdLst/>
            <a:ahLst/>
            <a:cxnLst/>
            <a:rect r="r" b="b" t="t" l="l"/>
            <a:pathLst>
              <a:path h="2790825" w="2628900">
                <a:moveTo>
                  <a:pt x="0" y="0"/>
                </a:moveTo>
                <a:lnTo>
                  <a:pt x="2628900" y="0"/>
                </a:lnTo>
                <a:lnTo>
                  <a:pt x="26289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4368439" y="6486424"/>
            <a:ext cx="1728723" cy="32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k-NN 거리 계산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818394" y="7677006"/>
            <a:ext cx="1319177" cy="38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49D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정상 (OK)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809992" y="8102756"/>
            <a:ext cx="1316420" cy="27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거리 &gt; 임계값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11244" y="8102756"/>
            <a:ext cx="1318592" cy="27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거리 ≤ 임계값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49357" y="6486424"/>
            <a:ext cx="718253" cy="32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카메라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666436" y="500182"/>
            <a:ext cx="366543" cy="4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>
                <a:solidFill>
                  <a:srgbClr val="78A9E8"/>
                </a:solidFill>
                <a:latin typeface="Canva Sans"/>
                <a:ea typeface="Canva Sans"/>
                <a:cs typeface="Canva Sans"/>
                <a:sym typeface="Canva Sans"/>
              </a:rPr>
              <a:t>AI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57608" y="1463234"/>
            <a:ext cx="14601692" cy="38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sz="2487" b="true">
                <a:solidFill>
                  <a:srgbClr val="D885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포토센서 감지 → 컨베이어 정지 → 3프레임 수집 → Heat/Darkness 점수 계산 → OK / NG 판정 → 완료 신호 전달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390775" y="4067175"/>
            <a:ext cx="5229225" cy="5153025"/>
          </a:xfrm>
          <a:custGeom>
            <a:avLst/>
            <a:gdLst/>
            <a:ahLst/>
            <a:cxnLst/>
            <a:rect r="r" b="b" t="t" l="l"/>
            <a:pathLst>
              <a:path h="5153025" w="5229225">
                <a:moveTo>
                  <a:pt x="0" y="0"/>
                </a:moveTo>
                <a:lnTo>
                  <a:pt x="5229225" y="0"/>
                </a:lnTo>
                <a:lnTo>
                  <a:pt x="522922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8625" y="5353050"/>
            <a:ext cx="3057525" cy="3438525"/>
          </a:xfrm>
          <a:custGeom>
            <a:avLst/>
            <a:gdLst/>
            <a:ahLst/>
            <a:cxnLst/>
            <a:rect r="r" b="b" t="t" l="l"/>
            <a:pathLst>
              <a:path h="3438525" w="3057525">
                <a:moveTo>
                  <a:pt x="0" y="0"/>
                </a:moveTo>
                <a:lnTo>
                  <a:pt x="3057525" y="0"/>
                </a:lnTo>
                <a:lnTo>
                  <a:pt x="30575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7147" y="3302741"/>
            <a:ext cx="5441507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AI와 영상처리 기술로 불량을 검사해요!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428625"/>
            <a:ext cx="2619375" cy="3000375"/>
          </a:xfrm>
          <a:custGeom>
            <a:avLst/>
            <a:gdLst/>
            <a:ahLst/>
            <a:cxnLst/>
            <a:rect r="r" b="b" t="t" l="l"/>
            <a:pathLst>
              <a:path h="3000375" w="2619375">
                <a:moveTo>
                  <a:pt x="0" y="0"/>
                </a:moveTo>
                <a:lnTo>
                  <a:pt x="2619375" y="0"/>
                </a:lnTo>
                <a:lnTo>
                  <a:pt x="26193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49550" y="6858000"/>
            <a:ext cx="2628900" cy="2790825"/>
          </a:xfrm>
          <a:custGeom>
            <a:avLst/>
            <a:gdLst/>
            <a:ahLst/>
            <a:cxnLst/>
            <a:rect r="r" b="b" t="t" l="l"/>
            <a:pathLst>
              <a:path h="2790825" w="2628900">
                <a:moveTo>
                  <a:pt x="0" y="0"/>
                </a:moveTo>
                <a:lnTo>
                  <a:pt x="2628900" y="0"/>
                </a:lnTo>
                <a:lnTo>
                  <a:pt x="26289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22755" y="2203366"/>
            <a:ext cx="9293164" cy="6915546"/>
          </a:xfrm>
          <a:custGeom>
            <a:avLst/>
            <a:gdLst/>
            <a:ahLst/>
            <a:cxnLst/>
            <a:rect r="r" b="b" t="t" l="l"/>
            <a:pathLst>
              <a:path h="6915546" w="9293164">
                <a:moveTo>
                  <a:pt x="0" y="0"/>
                </a:moveTo>
                <a:lnTo>
                  <a:pt x="9293164" y="0"/>
                </a:lnTo>
                <a:lnTo>
                  <a:pt x="9293164" y="6915546"/>
                </a:lnTo>
                <a:lnTo>
                  <a:pt x="0" y="6915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95536" y="500182"/>
            <a:ext cx="483933" cy="4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>
                <a:solidFill>
                  <a:srgbClr val="78A9E8"/>
                </a:solidFill>
                <a:latin typeface="Canva Sans"/>
                <a:ea typeface="Canva Sans"/>
                <a:cs typeface="Canva Sans"/>
                <a:sym typeface="Canva Sans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6436" y="500182"/>
            <a:ext cx="366543" cy="4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>
                <a:solidFill>
                  <a:srgbClr val="78A9E8"/>
                </a:solidFill>
                <a:latin typeface="Canva Sans"/>
                <a:ea typeface="Canva Sans"/>
                <a:cs typeface="Canva Sans"/>
                <a:sym typeface="Canva Sans"/>
              </a:rPr>
              <a:t>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10737" y="500182"/>
            <a:ext cx="4595113" cy="4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true">
                <a:solidFill>
                  <a:srgbClr val="78A9E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품질 검사: 정지 너트 version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1863" y="35258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4" y="0"/>
                </a:lnTo>
                <a:lnTo>
                  <a:pt x="2537974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8475" y="140690"/>
            <a:ext cx="13440971" cy="10092941"/>
          </a:xfrm>
          <a:custGeom>
            <a:avLst/>
            <a:gdLst/>
            <a:ahLst/>
            <a:cxnLst/>
            <a:rect r="r" b="b" t="t" l="l"/>
            <a:pathLst>
              <a:path h="10092941" w="13440971">
                <a:moveTo>
                  <a:pt x="13440971" y="0"/>
                </a:moveTo>
                <a:lnTo>
                  <a:pt x="0" y="0"/>
                </a:lnTo>
                <a:lnTo>
                  <a:pt x="0" y="10092941"/>
                </a:lnTo>
                <a:lnTo>
                  <a:pt x="13440971" y="10092941"/>
                </a:lnTo>
                <a:lnTo>
                  <a:pt x="13440971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1" t="0" r="-101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026621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2537974" y="0"/>
                </a:moveTo>
                <a:lnTo>
                  <a:pt x="0" y="0"/>
                </a:lnTo>
                <a:lnTo>
                  <a:pt x="0" y="2753220"/>
                </a:lnTo>
                <a:lnTo>
                  <a:pt x="2537974" y="2753220"/>
                </a:lnTo>
                <a:lnTo>
                  <a:pt x="2537974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71511" y="5520658"/>
            <a:ext cx="3916489" cy="4632992"/>
          </a:xfrm>
          <a:custGeom>
            <a:avLst/>
            <a:gdLst/>
            <a:ahLst/>
            <a:cxnLst/>
            <a:rect r="r" b="b" t="t" l="l"/>
            <a:pathLst>
              <a:path h="4632992" w="3916489">
                <a:moveTo>
                  <a:pt x="0" y="0"/>
                </a:moveTo>
                <a:lnTo>
                  <a:pt x="3916489" y="0"/>
                </a:lnTo>
                <a:lnTo>
                  <a:pt x="3916489" y="4632992"/>
                </a:lnTo>
                <a:lnTo>
                  <a:pt x="0" y="46329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7" r="0" b="-3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19503" y="1436850"/>
            <a:ext cx="12988842" cy="7255486"/>
          </a:xfrm>
          <a:custGeom>
            <a:avLst/>
            <a:gdLst/>
            <a:ahLst/>
            <a:cxnLst/>
            <a:rect r="r" b="b" t="t" l="l"/>
            <a:pathLst>
              <a:path h="7255486" w="12988842">
                <a:moveTo>
                  <a:pt x="0" y="0"/>
                </a:moveTo>
                <a:lnTo>
                  <a:pt x="12988843" y="0"/>
                </a:lnTo>
                <a:lnTo>
                  <a:pt x="12988843" y="7255487"/>
                </a:lnTo>
                <a:lnTo>
                  <a:pt x="0" y="72554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71511" y="4562475"/>
            <a:ext cx="3859152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화재 위험이 </a:t>
            </a:r>
          </a:p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감지됐습니다!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99405" y="376399"/>
            <a:ext cx="723911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 spc="14">
                <a:solidFill>
                  <a:srgbClr val="7EB8F8"/>
                </a:solidFill>
                <a:latin typeface="Mandali"/>
                <a:ea typeface="Mandali"/>
                <a:cs typeface="Mandali"/>
                <a:sym typeface="Mandali"/>
              </a:rPr>
              <a:t>5.화재 감지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1863" y="35258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4" y="0"/>
                </a:lnTo>
                <a:lnTo>
                  <a:pt x="2537974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8475" y="140690"/>
            <a:ext cx="13440971" cy="10092941"/>
          </a:xfrm>
          <a:custGeom>
            <a:avLst/>
            <a:gdLst/>
            <a:ahLst/>
            <a:cxnLst/>
            <a:rect r="r" b="b" t="t" l="l"/>
            <a:pathLst>
              <a:path h="10092941" w="13440971">
                <a:moveTo>
                  <a:pt x="13440971" y="0"/>
                </a:moveTo>
                <a:lnTo>
                  <a:pt x="0" y="0"/>
                </a:lnTo>
                <a:lnTo>
                  <a:pt x="0" y="10092941"/>
                </a:lnTo>
                <a:lnTo>
                  <a:pt x="13440971" y="10092941"/>
                </a:lnTo>
                <a:lnTo>
                  <a:pt x="13440971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1" t="0" r="-101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026621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2537974" y="0"/>
                </a:moveTo>
                <a:lnTo>
                  <a:pt x="0" y="0"/>
                </a:lnTo>
                <a:lnTo>
                  <a:pt x="0" y="2753220"/>
                </a:lnTo>
                <a:lnTo>
                  <a:pt x="2537974" y="2753220"/>
                </a:lnTo>
                <a:lnTo>
                  <a:pt x="2537974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71511" y="5520658"/>
            <a:ext cx="3916489" cy="4632992"/>
          </a:xfrm>
          <a:custGeom>
            <a:avLst/>
            <a:gdLst/>
            <a:ahLst/>
            <a:cxnLst/>
            <a:rect r="r" b="b" t="t" l="l"/>
            <a:pathLst>
              <a:path h="4632992" w="3916489">
                <a:moveTo>
                  <a:pt x="0" y="0"/>
                </a:moveTo>
                <a:lnTo>
                  <a:pt x="3916489" y="0"/>
                </a:lnTo>
                <a:lnTo>
                  <a:pt x="3916489" y="4632992"/>
                </a:lnTo>
                <a:lnTo>
                  <a:pt x="0" y="46329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7" r="0" b="-3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20163" y="1534020"/>
            <a:ext cx="5519910" cy="7359879"/>
          </a:xfrm>
          <a:custGeom>
            <a:avLst/>
            <a:gdLst/>
            <a:ahLst/>
            <a:cxnLst/>
            <a:rect r="r" b="b" t="t" l="l"/>
            <a:pathLst>
              <a:path h="7359879" w="5519910">
                <a:moveTo>
                  <a:pt x="0" y="0"/>
                </a:moveTo>
                <a:lnTo>
                  <a:pt x="5519909" y="0"/>
                </a:lnTo>
                <a:lnTo>
                  <a:pt x="5519909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93462" y="1534020"/>
            <a:ext cx="5519910" cy="7359879"/>
          </a:xfrm>
          <a:custGeom>
            <a:avLst/>
            <a:gdLst/>
            <a:ahLst/>
            <a:cxnLst/>
            <a:rect r="r" b="b" t="t" l="l"/>
            <a:pathLst>
              <a:path h="7359879" w="5519910">
                <a:moveTo>
                  <a:pt x="0" y="0"/>
                </a:moveTo>
                <a:lnTo>
                  <a:pt x="5519909" y="0"/>
                </a:lnTo>
                <a:lnTo>
                  <a:pt x="5519909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371511" y="4562475"/>
            <a:ext cx="3859152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화재 위험이 </a:t>
            </a:r>
          </a:p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감지됐습니다!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99405" y="376399"/>
            <a:ext cx="723911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 spc="14">
                <a:solidFill>
                  <a:srgbClr val="7EB8F8"/>
                </a:solidFill>
                <a:latin typeface="Mandali"/>
                <a:ea typeface="Mandali"/>
                <a:cs typeface="Mandali"/>
                <a:sym typeface="Mandali"/>
              </a:rPr>
              <a:t>5.화재 감지(실제 센서 라인)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0" y="179624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708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5" y="0"/>
                </a:lnTo>
                <a:lnTo>
                  <a:pt x="2537975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6708" y="5366338"/>
            <a:ext cx="3937302" cy="4456328"/>
          </a:xfrm>
          <a:custGeom>
            <a:avLst/>
            <a:gdLst/>
            <a:ahLst/>
            <a:cxnLst/>
            <a:rect r="r" b="b" t="t" l="l"/>
            <a:pathLst>
              <a:path h="4456328" w="3937302">
                <a:moveTo>
                  <a:pt x="0" y="0"/>
                </a:moveTo>
                <a:lnTo>
                  <a:pt x="3937302" y="0"/>
                </a:lnTo>
                <a:lnTo>
                  <a:pt x="3937302" y="4456329"/>
                </a:lnTo>
                <a:lnTo>
                  <a:pt x="0" y="44563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1" t="0" r="-6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33755" y="631116"/>
            <a:ext cx="5509076" cy="3672717"/>
          </a:xfrm>
          <a:custGeom>
            <a:avLst/>
            <a:gdLst/>
            <a:ahLst/>
            <a:cxnLst/>
            <a:rect r="r" b="b" t="t" l="l"/>
            <a:pathLst>
              <a:path h="3672717" w="5509076">
                <a:moveTo>
                  <a:pt x="0" y="0"/>
                </a:moveTo>
                <a:lnTo>
                  <a:pt x="5509076" y="0"/>
                </a:lnTo>
                <a:lnTo>
                  <a:pt x="5509076" y="3672717"/>
                </a:lnTo>
                <a:lnTo>
                  <a:pt x="0" y="3672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203" r="0" b="-620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61887" y="842962"/>
            <a:ext cx="476186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10">
                <a:solidFill>
                  <a:srgbClr val="7EB8F8"/>
                </a:solidFill>
                <a:latin typeface="Mandali"/>
                <a:ea typeface="Mandali"/>
                <a:cs typeface="Mandali"/>
                <a:sym typeface="Mandali"/>
              </a:rPr>
              <a:t>06  MQTT · C# IOCP 서버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395" y="4657725"/>
            <a:ext cx="445592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검사 결과를</a:t>
            </a:r>
          </a:p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빠르고 정확하게 전달해요!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61887" y="1724682"/>
            <a:ext cx="4761868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795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검사 결과를  MQTT 브로커로</a:t>
            </a:r>
          </a:p>
          <a:p>
            <a:pPr algn="ctr">
              <a:lnSpc>
                <a:spcPts val="3354"/>
              </a:lnSpc>
            </a:pPr>
            <a:r>
              <a:rPr lang="en-US" sz="2795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전송하면 브로커와 Socket통신으로 연결된 </a:t>
            </a:r>
            <a:r>
              <a:rPr lang="en-US" sz="2795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C# 서버가 로그를 </a:t>
            </a:r>
          </a:p>
          <a:p>
            <a:pPr algn="ctr">
              <a:lnSpc>
                <a:spcPts val="3354"/>
              </a:lnSpc>
            </a:pPr>
            <a:r>
              <a:rPr lang="en-US" sz="2795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분석하여 화재경보를 울려요.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101477" y="3717360"/>
            <a:ext cx="10853878" cy="6105307"/>
          </a:xfrm>
          <a:custGeom>
            <a:avLst/>
            <a:gdLst/>
            <a:ahLst/>
            <a:cxnLst/>
            <a:rect r="r" b="b" t="t" l="l"/>
            <a:pathLst>
              <a:path h="6105307" w="10853878">
                <a:moveTo>
                  <a:pt x="0" y="0"/>
                </a:moveTo>
                <a:lnTo>
                  <a:pt x="10853878" y="0"/>
                </a:lnTo>
                <a:lnTo>
                  <a:pt x="10853878" y="6105307"/>
                </a:lnTo>
                <a:lnTo>
                  <a:pt x="0" y="61053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0" y="179624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708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5" y="0"/>
                </a:lnTo>
                <a:lnTo>
                  <a:pt x="2537975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78328" y="1397805"/>
            <a:ext cx="15125064" cy="8441676"/>
          </a:xfrm>
          <a:custGeom>
            <a:avLst/>
            <a:gdLst/>
            <a:ahLst/>
            <a:cxnLst/>
            <a:rect r="r" b="b" t="t" l="l"/>
            <a:pathLst>
              <a:path h="8441676" w="15125064">
                <a:moveTo>
                  <a:pt x="0" y="0"/>
                </a:moveTo>
                <a:lnTo>
                  <a:pt x="15125064" y="0"/>
                </a:lnTo>
                <a:lnTo>
                  <a:pt x="15125064" y="8441676"/>
                </a:lnTo>
                <a:lnTo>
                  <a:pt x="0" y="8441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07528" y="1144092"/>
            <a:ext cx="6626560" cy="4975941"/>
          </a:xfrm>
          <a:custGeom>
            <a:avLst/>
            <a:gdLst/>
            <a:ahLst/>
            <a:cxnLst/>
            <a:rect r="r" b="b" t="t" l="l"/>
            <a:pathLst>
              <a:path h="4975941" w="6626560">
                <a:moveTo>
                  <a:pt x="0" y="0"/>
                </a:moveTo>
                <a:lnTo>
                  <a:pt x="6626560" y="0"/>
                </a:lnTo>
                <a:lnTo>
                  <a:pt x="6626560" y="4975941"/>
                </a:lnTo>
                <a:lnTo>
                  <a:pt x="0" y="4975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" t="0" r="-10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6708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5" y="0"/>
                </a:lnTo>
                <a:lnTo>
                  <a:pt x="2537975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102" y="5504310"/>
            <a:ext cx="5327104" cy="4752318"/>
          </a:xfrm>
          <a:custGeom>
            <a:avLst/>
            <a:gdLst/>
            <a:ahLst/>
            <a:cxnLst/>
            <a:rect r="r" b="b" t="t" l="l"/>
            <a:pathLst>
              <a:path h="4752318" w="5327104">
                <a:moveTo>
                  <a:pt x="0" y="0"/>
                </a:moveTo>
                <a:lnTo>
                  <a:pt x="5327104" y="0"/>
                </a:lnTo>
                <a:lnTo>
                  <a:pt x="5327104" y="4752318"/>
                </a:lnTo>
                <a:lnTo>
                  <a:pt x="0" y="47523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0000"/>
            </a:blip>
            <a:stretch>
              <a:fillRect l="-2322" t="-2272" r="-2322" b="-227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112060">
            <a:off x="3461190" y="5612077"/>
            <a:ext cx="1632895" cy="2736657"/>
          </a:xfrm>
          <a:custGeom>
            <a:avLst/>
            <a:gdLst/>
            <a:ahLst/>
            <a:cxnLst/>
            <a:rect r="r" b="b" t="t" l="l"/>
            <a:pathLst>
              <a:path h="2736657" w="1632895">
                <a:moveTo>
                  <a:pt x="0" y="0"/>
                </a:moveTo>
                <a:lnTo>
                  <a:pt x="1632895" y="0"/>
                </a:lnTo>
                <a:lnTo>
                  <a:pt x="1632895" y="2736657"/>
                </a:lnTo>
                <a:lnTo>
                  <a:pt x="0" y="27366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881" t="0" r="-8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69605" y="1661498"/>
            <a:ext cx="9612050" cy="6411162"/>
          </a:xfrm>
          <a:custGeom>
            <a:avLst/>
            <a:gdLst/>
            <a:ahLst/>
            <a:cxnLst/>
            <a:rect r="r" b="b" t="t" l="l"/>
            <a:pathLst>
              <a:path h="6411162" w="9612050">
                <a:moveTo>
                  <a:pt x="0" y="0"/>
                </a:moveTo>
                <a:lnTo>
                  <a:pt x="9612050" y="0"/>
                </a:lnTo>
                <a:lnTo>
                  <a:pt x="9612050" y="6411162"/>
                </a:lnTo>
                <a:lnTo>
                  <a:pt x="0" y="64111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55385" y="1748247"/>
            <a:ext cx="58064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11">
                <a:solidFill>
                  <a:srgbClr val="7EB8F8"/>
                </a:solidFill>
                <a:latin typeface="Mandali"/>
                <a:ea typeface="Mandali"/>
                <a:cs typeface="Mandali"/>
                <a:sym typeface="Mandali"/>
              </a:rPr>
              <a:t>07 Unity 디지털 트윈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8245" y="2442803"/>
            <a:ext cx="57607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b="true" sz="2800">
                <a:solidFill>
                  <a:srgbClr val="FF9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가상 공장을 함께 살펴볼까요?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23663" y="3015948"/>
            <a:ext cx="5724144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7">
                <a:solidFill>
                  <a:srgbClr val="E2F2FF"/>
                </a:solidFill>
                <a:latin typeface="Mandali"/>
                <a:ea typeface="Mandali"/>
                <a:cs typeface="Mandali"/>
                <a:sym typeface="Mandali"/>
              </a:rPr>
              <a:t>Unity를 활용해 공장 장비와 가상 센서를 구현하고, 실제 센서처럼 통신을 합니다.</a:t>
            </a:r>
          </a:p>
          <a:p>
            <a:pPr algn="l">
              <a:lnSpc>
                <a:spcPts val="2999"/>
              </a:lnSpc>
            </a:pPr>
            <a:r>
              <a:rPr lang="en-US" sz="2499" spc="7">
                <a:solidFill>
                  <a:srgbClr val="E2F2FF"/>
                </a:solidFill>
                <a:latin typeface="Mandali"/>
                <a:ea typeface="Mandali"/>
                <a:cs typeface="Mandali"/>
                <a:sym typeface="Mandali"/>
              </a:rPr>
              <a:t>가상 공장과 위치를 일치 시키기 위해 좌표,회전 값을 그대로 가지고 왔어요.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spc="7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모바일 앱에서 설비 상태를 확인할 수 있도록</a:t>
            </a:r>
          </a:p>
          <a:p>
            <a:pPr algn="l">
              <a:lnSpc>
                <a:spcPts val="2999"/>
              </a:lnSpc>
            </a:pPr>
            <a:r>
              <a:rPr lang="en-US" sz="2499" spc="9">
                <a:solidFill>
                  <a:srgbClr val="E2F2FF"/>
                </a:solidFill>
                <a:latin typeface="Calibri (MS)"/>
                <a:ea typeface="Calibri (MS)"/>
                <a:cs typeface="Calibri (MS)"/>
                <a:sym typeface="Calibri (MS)"/>
              </a:rPr>
              <a:t>구현했어요.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603" y="-3679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8366" y="-36790"/>
            <a:ext cx="13699403" cy="10287000"/>
          </a:xfrm>
          <a:custGeom>
            <a:avLst/>
            <a:gdLst/>
            <a:ahLst/>
            <a:cxnLst/>
            <a:rect r="r" b="b" t="t" l="l"/>
            <a:pathLst>
              <a:path h="10287000" w="13699403">
                <a:moveTo>
                  <a:pt x="0" y="0"/>
                </a:moveTo>
                <a:lnTo>
                  <a:pt x="13699403" y="0"/>
                </a:lnTo>
                <a:lnTo>
                  <a:pt x="136994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" t="0" r="-10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4192" y="1344724"/>
            <a:ext cx="12209005" cy="8091178"/>
          </a:xfrm>
          <a:custGeom>
            <a:avLst/>
            <a:gdLst/>
            <a:ahLst/>
            <a:cxnLst/>
            <a:rect r="r" b="b" t="t" l="l"/>
            <a:pathLst>
              <a:path h="8091178" w="12209005">
                <a:moveTo>
                  <a:pt x="0" y="0"/>
                </a:moveTo>
                <a:lnTo>
                  <a:pt x="12209005" y="0"/>
                </a:lnTo>
                <a:lnTo>
                  <a:pt x="12209005" y="8091178"/>
                </a:lnTo>
                <a:lnTo>
                  <a:pt x="0" y="80911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01" r="0" b="-50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6708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5" y="0"/>
                </a:lnTo>
                <a:lnTo>
                  <a:pt x="2537975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71511" y="5520658"/>
            <a:ext cx="3916489" cy="4632992"/>
          </a:xfrm>
          <a:custGeom>
            <a:avLst/>
            <a:gdLst/>
            <a:ahLst/>
            <a:cxnLst/>
            <a:rect r="r" b="b" t="t" l="l"/>
            <a:pathLst>
              <a:path h="4632992" w="3916489">
                <a:moveTo>
                  <a:pt x="0" y="0"/>
                </a:moveTo>
                <a:lnTo>
                  <a:pt x="3916489" y="0"/>
                </a:lnTo>
                <a:lnTo>
                  <a:pt x="3916489" y="4632992"/>
                </a:lnTo>
                <a:lnTo>
                  <a:pt x="0" y="4632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7" r="0" b="-3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24683" y="800100"/>
            <a:ext cx="650077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11">
                <a:solidFill>
                  <a:srgbClr val="7EB8F8"/>
                </a:solidFill>
                <a:latin typeface="Mandali"/>
                <a:ea typeface="Mandali"/>
                <a:cs typeface="Mandali"/>
                <a:sym typeface="Mandali"/>
              </a:rPr>
              <a:t>08  클라우드 · LLM 보고서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16507" y="790575"/>
            <a:ext cx="61722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800">
                <a:solidFill>
                  <a:srgbClr val="FF9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검사 결과를 보고서로 정리해요!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258300"/>
          </a:xfrm>
          <a:custGeom>
            <a:avLst/>
            <a:gdLst/>
            <a:ahLst/>
            <a:cxnLst/>
            <a:rect r="r" b="b" t="t" l="l"/>
            <a:pathLst>
              <a:path h="9258300" w="18288000">
                <a:moveTo>
                  <a:pt x="0" y="0"/>
                </a:moveTo>
                <a:lnTo>
                  <a:pt x="18288000" y="0"/>
                </a:lnTo>
                <a:lnTo>
                  <a:pt x="182880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00976" y="9554560"/>
            <a:ext cx="3264694" cy="34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0"/>
              </a:lnSpc>
              <a:spcBef>
                <a:spcPct val="0"/>
              </a:spcBef>
            </a:pPr>
            <a:r>
              <a:rPr lang="en-US" b="true" sz="198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대시보드 스크린샷: 보고서 생성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708" y="600237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0" y="0"/>
                </a:moveTo>
                <a:lnTo>
                  <a:pt x="2537975" y="0"/>
                </a:lnTo>
                <a:lnTo>
                  <a:pt x="2537975" y="2753220"/>
                </a:lnTo>
                <a:lnTo>
                  <a:pt x="0" y="2753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53583" y="2238804"/>
            <a:ext cx="7736472" cy="5809383"/>
          </a:xfrm>
          <a:custGeom>
            <a:avLst/>
            <a:gdLst/>
            <a:ahLst/>
            <a:cxnLst/>
            <a:rect r="r" b="b" t="t" l="l"/>
            <a:pathLst>
              <a:path h="5809383" w="7736472">
                <a:moveTo>
                  <a:pt x="0" y="0"/>
                </a:moveTo>
                <a:lnTo>
                  <a:pt x="7736472" y="0"/>
                </a:lnTo>
                <a:lnTo>
                  <a:pt x="7736472" y="5809383"/>
                </a:lnTo>
                <a:lnTo>
                  <a:pt x="0" y="58093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1" t="0" r="-101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337974" y="7099278"/>
            <a:ext cx="2537974" cy="2753220"/>
          </a:xfrm>
          <a:custGeom>
            <a:avLst/>
            <a:gdLst/>
            <a:ahLst/>
            <a:cxnLst/>
            <a:rect r="r" b="b" t="t" l="l"/>
            <a:pathLst>
              <a:path h="2753220" w="2537974">
                <a:moveTo>
                  <a:pt x="2537975" y="2753220"/>
                </a:moveTo>
                <a:lnTo>
                  <a:pt x="0" y="2753220"/>
                </a:lnTo>
                <a:lnTo>
                  <a:pt x="0" y="0"/>
                </a:lnTo>
                <a:lnTo>
                  <a:pt x="2537975" y="0"/>
                </a:lnTo>
                <a:lnTo>
                  <a:pt x="2537975" y="27532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" r="0" b="-61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441414" y="600237"/>
            <a:ext cx="3218917" cy="3218917"/>
          </a:xfrm>
          <a:custGeom>
            <a:avLst/>
            <a:gdLst/>
            <a:ahLst/>
            <a:cxnLst/>
            <a:rect r="r" b="b" t="t" l="l"/>
            <a:pathLst>
              <a:path h="3218917" w="3218917">
                <a:moveTo>
                  <a:pt x="3218917" y="3218917"/>
                </a:moveTo>
                <a:lnTo>
                  <a:pt x="0" y="3218917"/>
                </a:lnTo>
                <a:lnTo>
                  <a:pt x="0" y="0"/>
                </a:lnTo>
                <a:lnTo>
                  <a:pt x="3218917" y="0"/>
                </a:lnTo>
                <a:lnTo>
                  <a:pt x="3218917" y="321891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3701548"/>
            <a:ext cx="6758407" cy="5556752"/>
          </a:xfrm>
          <a:custGeom>
            <a:avLst/>
            <a:gdLst/>
            <a:ahLst/>
            <a:cxnLst/>
            <a:rect r="r" b="b" t="t" l="l"/>
            <a:pathLst>
              <a:path h="5556752" w="6758407">
                <a:moveTo>
                  <a:pt x="0" y="0"/>
                </a:moveTo>
                <a:lnTo>
                  <a:pt x="6758407" y="0"/>
                </a:lnTo>
                <a:lnTo>
                  <a:pt x="6758407" y="5556752"/>
                </a:lnTo>
                <a:lnTo>
                  <a:pt x="0" y="55567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9" t="0" r="-4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85247" y="545659"/>
            <a:ext cx="9380992" cy="178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b="true" sz="5100">
                <a:solidFill>
                  <a:srgbClr val="FF9A2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지금까지 VISION 4를 살펴봤어요!</a:t>
            </a:r>
          </a:p>
          <a:p>
            <a:pPr algn="ctr">
              <a:lnSpc>
                <a:spcPts val="713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375743" y="2904754"/>
            <a:ext cx="658368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9">
                <a:solidFill>
                  <a:srgbClr val="7EB8F8"/>
                </a:solidFill>
                <a:latin typeface="Mandali"/>
                <a:ea typeface="Mandali"/>
                <a:cs typeface="Mandali"/>
                <a:sym typeface="Mandali"/>
              </a:rPr>
              <a:t>10 시스템 시연 및 향후 계획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563624" y="4790751"/>
            <a:ext cx="620821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이제 실제 작동 모습을 함께 확인해 볼까요?</a:t>
            </a:r>
          </a:p>
          <a:p>
            <a:pPr algn="l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DAHYmdaA-DM</dc:identifier>
  <dcterms:modified xsi:type="dcterms:W3CDTF">2011-08-01T06:04:30Z</dcterms:modified>
  <cp:revision>1</cp:revision>
  <dc:title>비전 4조 ppt</dc:title>
</cp:coreProperties>
</file>